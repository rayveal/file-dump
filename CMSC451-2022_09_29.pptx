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4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70" autoAdjust="0"/>
    <p:restoredTop sz="94660"/>
  </p:normalViewPr>
  <p:slideViewPr>
    <p:cSldViewPr snapToGrid="0">
      <p:cViewPr varScale="1">
        <p:scale>
          <a:sx n="133" d="100"/>
          <a:sy n="133" d="100"/>
        </p:scale>
        <p:origin x="224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DE68B-637F-4BE5-8149-24B248513B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30044-1BBC-434C-82EA-D591C137CE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F654F-CCA3-459F-94AE-108ED1AF8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5EE62-690B-46D1-BE92-0E07511FE4FE}" type="datetimeFigureOut">
              <a:rPr lang="en-US" smtClean="0"/>
              <a:t>9/29/22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957D6-9765-4D12-B971-657154FF3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A429A-9A11-434B-A8A9-0A4A0A90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78A10-63C5-40EF-B46C-09B958C84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249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1E499-8F77-4470-BC33-C9FB52458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6E084-3AAD-406E-A860-3891EF8E8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1A1EA-161E-4AF7-BEC7-9F95E31D3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5EE62-690B-46D1-BE92-0E07511FE4FE}" type="datetimeFigureOut">
              <a:rPr lang="en-US" smtClean="0"/>
              <a:t>9/29/22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B5AF0-A2E7-4DE5-82E1-C62963275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06641-5FAB-4241-B8E4-6BDD57F72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78A10-63C5-40EF-B46C-09B958C84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909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93722-FB76-4825-AA34-1DA21DF46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1762B3-B37D-48FF-B39D-28E023FD8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BD85A-6C7B-4ECE-943F-90346D2ED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5EE62-690B-46D1-BE92-0E07511FE4FE}" type="datetimeFigureOut">
              <a:rPr lang="en-US" smtClean="0"/>
              <a:t>9/29/22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6CC77-25FF-4D1C-9B1F-54F4815E8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57133-8C9B-4975-8366-166AB2CFA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78A10-63C5-40EF-B46C-09B958C84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581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9B3D0-B09E-4632-8685-F1F9B38BD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F2358-BC82-4EA2-AC1A-5DF63984FA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BBC2F7-9FC5-4BFC-91C6-E136785D4C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6E0DC0-E203-434E-9724-B97B2E98B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5EE62-690B-46D1-BE92-0E07511FE4FE}" type="datetimeFigureOut">
              <a:rPr lang="en-US" smtClean="0"/>
              <a:t>9/29/22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7CA82A-E43F-48F3-B7E1-DE0AFFC7E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37E997-BBE6-4F56-B5CA-A56B53A47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78A10-63C5-40EF-B46C-09B958C84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742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42097-86E0-4991-A903-7E578E180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39DE5C-7857-42A3-88BF-36C22C64B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CFC48E-1968-4656-9CCA-1442A0046F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F3CC12-59DC-4523-BF76-7FF001C963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B8E769-467D-47E4-81B8-7AB1BAD765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AEBF0C-CD61-4288-84F8-B82D550AB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5EE62-690B-46D1-BE92-0E07511FE4FE}" type="datetimeFigureOut">
              <a:rPr lang="en-US" smtClean="0"/>
              <a:t>9/29/22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DB369A-C524-4119-98A5-A923E0E69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F76563-E9A8-474B-AE34-95DB1C611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78A10-63C5-40EF-B46C-09B958C84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229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643D8-DD11-460E-9DA0-EA98F71AA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ED9E2D-BFB8-468F-B227-97058F0F5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5EE62-690B-46D1-BE92-0E07511FE4FE}" type="datetimeFigureOut">
              <a:rPr lang="en-US" smtClean="0"/>
              <a:t>9/29/22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E79306-6BA0-4642-83BC-A8C6356AB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EA8B8A-D9A1-4980-B0B5-F546878A8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78A10-63C5-40EF-B46C-09B958C84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754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A5CA59-A054-4E06-B422-738B8325B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5EE62-690B-46D1-BE92-0E07511FE4FE}" type="datetimeFigureOut">
              <a:rPr lang="en-US" smtClean="0"/>
              <a:t>9/29/22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D6BD60-54AD-4329-8D93-9DDD7E3D9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77194-58E0-48A3-8A5D-9D6B93618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78A10-63C5-40EF-B46C-09B958C84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28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508AC-18E9-4762-8191-D34A707FE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9B531-0384-44A6-801D-4FBEEF35C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80181-A67E-46E5-95C7-4CFF1EC423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3F4955-EF99-4C2B-B1E4-54F07879D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5EE62-690B-46D1-BE92-0E07511FE4FE}" type="datetimeFigureOut">
              <a:rPr lang="en-US" smtClean="0"/>
              <a:t>9/29/22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C39CB2-B118-4546-A3EB-F8646F566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15665C-C86F-40F4-AD23-60DE9AC6F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78A10-63C5-40EF-B46C-09B958C84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58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4CF68-68A8-4F7C-A596-15635C0D8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442D2C-58C7-49EC-866E-BCF94F73C1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A777C2-E192-4EFE-92A4-6F4C0EC97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15534-A6F6-4A2F-86D2-195D1A012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5EE62-690B-46D1-BE92-0E07511FE4FE}" type="datetimeFigureOut">
              <a:rPr lang="en-US" smtClean="0"/>
              <a:t>9/29/22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4C4BD9-A2E6-4A25-B746-DED666CB8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1D3B1-2A94-42ED-A9B5-6C19CBAF5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78A10-63C5-40EF-B46C-09B958C84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668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4816D-9446-4A20-B409-C40F9CA3E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6A5EB6-F330-45A1-BCBB-2D7261BFF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CE373-24CE-4E5D-BF1F-39DD2F1A3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5EE62-690B-46D1-BE92-0E07511FE4FE}" type="datetimeFigureOut">
              <a:rPr lang="en-US" smtClean="0"/>
              <a:t>9/29/22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AACBC-06A1-45F9-A0F3-12CEB52C6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DE5C0-2DEE-4D50-99CB-A42626EA5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78A10-63C5-40EF-B46C-09B958C84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687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FDD2FC-22E4-4E4E-90D3-5F65809FB1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0139E8-78D4-429B-800B-4072CC08BE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BAB8F-083F-467F-B7CF-11C80C6F2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5EE62-690B-46D1-BE92-0E07511FE4FE}" type="datetimeFigureOut">
              <a:rPr lang="en-US" smtClean="0"/>
              <a:t>9/29/22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2D97F-602D-4F1D-944D-7F20F6137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95A3B-3263-4D29-8168-C267A0D03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78A10-63C5-40EF-B46C-09B958C84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751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43CB69-629B-44FF-A194-DF34D37A9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346F2D-CCFD-4E47-BC3B-B7E09D029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6AF07-0CF5-4252-81C0-615758E321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55EE62-690B-46D1-BE92-0E07511FE4FE}" type="datetimeFigureOut">
              <a:rPr lang="en-US" smtClean="0"/>
              <a:t>9/29/22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7AEB9-3730-43FA-8820-40E2D0D02D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5CC14-A3AF-4C3A-9C48-84334BA716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D78A10-63C5-40EF-B46C-09B958C84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522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gift2disease.net/GIFTED/download/GIFTED.xlsx" TargetMode="External"/><Relationship Id="rId2" Type="http://schemas.openxmlformats.org/officeDocument/2006/relationships/hyperlink" Target="http://gift2disease.net/GIFTED/download.jsp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8F8FA-509C-4548-B8F0-441B1119CA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CMSC451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4288B8-A3D3-4139-8DCD-804E9EAC76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Project outline</a:t>
            </a:r>
          </a:p>
        </p:txBody>
      </p:sp>
    </p:spTree>
    <p:extLst>
      <p:ext uri="{BB962C8B-B14F-4D97-AF65-F5344CB8AC3E}">
        <p14:creationId xmlns:p14="http://schemas.microsoft.com/office/powerpoint/2010/main" val="3256185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04CDC-FB1F-4426-8369-232A84438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51D50-4999-4264-BDCD-E0A5A6793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Reading the publications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there’s a python package for downloading abstracts from PubMed (an archive of medical publications)</a:t>
            </a:r>
          </a:p>
          <a:p>
            <a:pPr lvl="1"/>
            <a:endParaRPr lang="en-US" dirty="0"/>
          </a:p>
          <a:p>
            <a:r>
              <a:rPr lang="en-US" dirty="0"/>
              <a:t>Finding the relations</a:t>
            </a:r>
          </a:p>
          <a:p>
            <a:pPr lvl="1"/>
            <a:r>
              <a:rPr lang="en-US" dirty="0"/>
              <a:t>Machine learning model: neural network for text input (python, </a:t>
            </a:r>
            <a:r>
              <a:rPr lang="en-US" dirty="0" err="1"/>
              <a:t>pytorch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29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04CDC-FB1F-4426-8369-232A84438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the training set for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51D50-4999-4264-BDCD-E0A5A6793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 database of publication – disease – bacteria associations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Go to: </a:t>
            </a:r>
            <a:r>
              <a:rPr lang="en-US" dirty="0">
                <a:solidFill>
                  <a:srgbClr val="0070C0"/>
                </a:solidFill>
                <a:hlinkClick r:id="rId2"/>
              </a:rPr>
              <a:t>http://gift2disease.net/GIFTED/download.jsp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dirty="0">
                <a:solidFill>
                  <a:srgbClr val="0070C0"/>
                </a:solidFill>
              </a:rPr>
              <a:t>Download “</a:t>
            </a:r>
            <a:r>
              <a:rPr lang="en-US" i="0" u="none" strike="noStrike" dirty="0">
                <a:solidFill>
                  <a:srgbClr val="34B8C0"/>
                </a:solidFill>
                <a:effectLst/>
                <a:latin typeface="Montserrat" pitchFamily="2" charset="77"/>
                <a:hlinkClick r:id="rId3"/>
              </a:rPr>
              <a:t>01All associations of microbiota and human diseases.</a:t>
            </a:r>
            <a:r>
              <a:rPr lang="en-US" dirty="0">
                <a:solidFill>
                  <a:srgbClr val="0070C0"/>
                </a:solidFill>
              </a:rPr>
              <a:t>”</a:t>
            </a:r>
          </a:p>
          <a:p>
            <a:pPr lvl="2"/>
            <a:r>
              <a:rPr lang="en-US" dirty="0">
                <a:solidFill>
                  <a:srgbClr val="0070C0"/>
                </a:solidFill>
              </a:rPr>
              <a:t>Should produce a file </a:t>
            </a:r>
            <a:r>
              <a:rPr lang="en-US" dirty="0" err="1">
                <a:solidFill>
                  <a:srgbClr val="0070C0"/>
                </a:solidFill>
              </a:rPr>
              <a:t>GIFTED.xlsx</a:t>
            </a:r>
            <a:endParaRPr lang="en-US" dirty="0">
              <a:solidFill>
                <a:srgbClr val="0070C0"/>
              </a:solidFill>
            </a:endParaRPr>
          </a:p>
          <a:p>
            <a:pPr lvl="2"/>
            <a:r>
              <a:rPr lang="en-US" dirty="0">
                <a:solidFill>
                  <a:srgbClr val="0070C0"/>
                </a:solidFill>
              </a:rPr>
              <a:t>Focus on columns </a:t>
            </a:r>
            <a:r>
              <a:rPr lang="en-US" dirty="0" err="1">
                <a:solidFill>
                  <a:srgbClr val="0070C0"/>
                </a:solidFill>
              </a:rPr>
              <a:t>PubmedID</a:t>
            </a:r>
            <a:r>
              <a:rPr lang="en-US" dirty="0">
                <a:solidFill>
                  <a:srgbClr val="0070C0"/>
                </a:solidFill>
              </a:rPr>
              <a:t>, Disease, Flora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2F265D-1DDF-4F91-23DC-7A4BFD504A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5370" y="4001294"/>
            <a:ext cx="6477000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62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04CDC-FB1F-4426-8369-232A84438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PubMed page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A5E4D6-47C3-9A93-0B88-5AB562073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014" y="0"/>
            <a:ext cx="6837986" cy="685800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BFC2F55-6B9B-4975-5884-EC1D8CC6BF4C}"/>
              </a:ext>
            </a:extLst>
          </p:cNvPr>
          <p:cNvCxnSpPr>
            <a:cxnSpLocks/>
          </p:cNvCxnSpPr>
          <p:nvPr/>
        </p:nvCxnSpPr>
        <p:spPr>
          <a:xfrm>
            <a:off x="3806687" y="5108713"/>
            <a:ext cx="17194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D97BD4E-8322-BD41-C396-D08FCEAFC8D5}"/>
              </a:ext>
            </a:extLst>
          </p:cNvPr>
          <p:cNvSpPr txBox="1"/>
          <p:nvPr/>
        </p:nvSpPr>
        <p:spPr>
          <a:xfrm>
            <a:off x="1320705" y="4924047"/>
            <a:ext cx="2544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are interested in this: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822E89C-040E-DAE1-B27B-6E2CB063694E}"/>
              </a:ext>
            </a:extLst>
          </p:cNvPr>
          <p:cNvCxnSpPr>
            <a:cxnSpLocks/>
          </p:cNvCxnSpPr>
          <p:nvPr/>
        </p:nvCxnSpPr>
        <p:spPr>
          <a:xfrm>
            <a:off x="3806687" y="2726635"/>
            <a:ext cx="17194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EFDB57C-7EB6-3065-DBE8-6044E1BFCCB8}"/>
              </a:ext>
            </a:extLst>
          </p:cNvPr>
          <p:cNvSpPr txBox="1"/>
          <p:nvPr/>
        </p:nvSpPr>
        <p:spPr>
          <a:xfrm>
            <a:off x="1320705" y="2541969"/>
            <a:ext cx="2544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are interested in this:</a:t>
            </a:r>
          </a:p>
        </p:txBody>
      </p:sp>
    </p:spTree>
    <p:extLst>
      <p:ext uri="{BB962C8B-B14F-4D97-AF65-F5344CB8AC3E}">
        <p14:creationId xmlns:p14="http://schemas.microsoft.com/office/powerpoint/2010/main" val="3156086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04CDC-FB1F-4426-8369-232A84438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the training set for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51D50-4999-4264-BDCD-E0A5A6793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Task: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download text of abstracts of all the publications mentioned in column B (</a:t>
            </a:r>
            <a:r>
              <a:rPr lang="en-US" dirty="0" err="1">
                <a:solidFill>
                  <a:srgbClr val="0070C0"/>
                </a:solidFill>
              </a:rPr>
              <a:t>PubmedID</a:t>
            </a:r>
            <a:r>
              <a:rPr lang="en-US" dirty="0">
                <a:solidFill>
                  <a:srgbClr val="0070C0"/>
                </a:solidFill>
              </a:rPr>
              <a:t>)</a:t>
            </a:r>
          </a:p>
          <a:p>
            <a:pPr lvl="1"/>
            <a:r>
              <a:rPr lang="en-US" dirty="0" err="1">
                <a:solidFill>
                  <a:srgbClr val="0070C0"/>
                </a:solidFill>
              </a:rPr>
              <a:t>Pubmed</a:t>
            </a:r>
            <a:r>
              <a:rPr lang="en-US" dirty="0">
                <a:solidFill>
                  <a:srgbClr val="0070C0"/>
                </a:solidFill>
              </a:rPr>
              <a:t> is a database of medical literature maintained by National Institutes of Health</a:t>
            </a:r>
          </a:p>
          <a:p>
            <a:pPr lvl="1"/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Desired output: 4 items per article [</a:t>
            </a:r>
            <a:r>
              <a:rPr lang="en-US" dirty="0" err="1">
                <a:solidFill>
                  <a:srgbClr val="0070C0"/>
                </a:solidFill>
              </a:rPr>
              <a:t>pubmedID</a:t>
            </a:r>
            <a:r>
              <a:rPr lang="en-US" dirty="0">
                <a:solidFill>
                  <a:srgbClr val="0070C0"/>
                </a:solidFill>
              </a:rPr>
              <a:t>, title, abstract text, text length in characters incl. spaces]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Please figure out the best way to store it (text file, python pickle, …)</a:t>
            </a:r>
          </a:p>
          <a:p>
            <a:pPr lvl="2"/>
            <a:r>
              <a:rPr lang="en-US" dirty="0">
                <a:solidFill>
                  <a:srgbClr val="0070C0"/>
                </a:solidFill>
              </a:rPr>
              <a:t>It’s about 1000 publications, each abstract is on the order of 1000-2000 characters, so it’s not a huge database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We will need to read it using </a:t>
            </a:r>
            <a:r>
              <a:rPr lang="en-US" dirty="0" err="1">
                <a:solidFill>
                  <a:srgbClr val="0070C0"/>
                </a:solidFill>
              </a:rPr>
              <a:t>pubmedID</a:t>
            </a:r>
            <a:r>
              <a:rPr lang="en-US" dirty="0">
                <a:solidFill>
                  <a:srgbClr val="0070C0"/>
                </a:solidFill>
              </a:rPr>
              <a:t> as the key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923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04CDC-FB1F-4426-8369-232A84438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the training set for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51D50-4999-4264-BDCD-E0A5A6793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391" y="128803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Starting points: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Option 1: </a:t>
            </a:r>
            <a:r>
              <a:rPr lang="en-US" dirty="0" err="1">
                <a:solidFill>
                  <a:srgbClr val="0070C0"/>
                </a:solidFill>
              </a:rPr>
              <a:t>biopython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endParaRPr lang="en-US" dirty="0">
              <a:solidFill>
                <a:srgbClr val="0070C0"/>
              </a:solidFill>
            </a:endParaRPr>
          </a:p>
          <a:p>
            <a:pPr lvl="1"/>
            <a:endParaRPr lang="en-US" dirty="0">
              <a:solidFill>
                <a:srgbClr val="0070C0"/>
              </a:solidFill>
            </a:endParaRPr>
          </a:p>
          <a:p>
            <a:pPr lvl="1"/>
            <a:endParaRPr lang="en-US" dirty="0">
              <a:solidFill>
                <a:srgbClr val="0070C0"/>
              </a:solidFill>
            </a:endParaRPr>
          </a:p>
          <a:p>
            <a:pPr lvl="1"/>
            <a:endParaRPr lang="en-US" dirty="0">
              <a:solidFill>
                <a:srgbClr val="0070C0"/>
              </a:solidFill>
            </a:endParaRPr>
          </a:p>
          <a:p>
            <a:pPr lvl="1"/>
            <a:endParaRPr lang="en-US" dirty="0">
              <a:solidFill>
                <a:srgbClr val="0070C0"/>
              </a:solidFill>
            </a:endParaRPr>
          </a:p>
          <a:p>
            <a:pPr lvl="1"/>
            <a:endParaRPr lang="en-US" dirty="0">
              <a:solidFill>
                <a:srgbClr val="0070C0"/>
              </a:solidFill>
            </a:endParaRPr>
          </a:p>
          <a:p>
            <a:pPr lvl="1"/>
            <a:endParaRPr lang="en-US" dirty="0">
              <a:solidFill>
                <a:srgbClr val="0070C0"/>
              </a:solidFill>
            </a:endParaRPr>
          </a:p>
          <a:p>
            <a:pPr lvl="1"/>
            <a:endParaRPr lang="en-US" dirty="0">
              <a:solidFill>
                <a:srgbClr val="0070C0"/>
              </a:solidFill>
            </a:endParaRPr>
          </a:p>
          <a:p>
            <a:pPr lvl="1"/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dirty="0">
                <a:solidFill>
                  <a:srgbClr val="0070C0"/>
                </a:solidFill>
              </a:rPr>
              <a:t>Option 2: </a:t>
            </a:r>
            <a:r>
              <a:rPr lang="en-US" dirty="0" err="1">
                <a:solidFill>
                  <a:srgbClr val="0070C0"/>
                </a:solidFill>
              </a:rPr>
              <a:t>pymed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https://</a:t>
            </a:r>
            <a:r>
              <a:rPr lang="en-US" dirty="0" err="1">
                <a:solidFill>
                  <a:srgbClr val="0070C0"/>
                </a:solidFill>
              </a:rPr>
              <a:t>github.com</a:t>
            </a:r>
            <a:r>
              <a:rPr lang="en-US" dirty="0">
                <a:solidFill>
                  <a:srgbClr val="0070C0"/>
                </a:solidFill>
              </a:rPr>
              <a:t>/</a:t>
            </a:r>
            <a:r>
              <a:rPr lang="en-US" dirty="0" err="1">
                <a:solidFill>
                  <a:srgbClr val="0070C0"/>
                </a:solidFill>
              </a:rPr>
              <a:t>gijswobben</a:t>
            </a:r>
            <a:r>
              <a:rPr lang="en-US" dirty="0">
                <a:solidFill>
                  <a:srgbClr val="0070C0"/>
                </a:solidFill>
              </a:rPr>
              <a:t>/</a:t>
            </a:r>
            <a:r>
              <a:rPr lang="en-US" dirty="0" err="1">
                <a:solidFill>
                  <a:srgbClr val="0070C0"/>
                </a:solidFill>
              </a:rPr>
              <a:t>pymed</a:t>
            </a:r>
            <a:endParaRPr lang="en-US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0449FB-028D-CA4E-6AE0-4CB00509D85B}"/>
              </a:ext>
            </a:extLst>
          </p:cNvPr>
          <p:cNvSpPr txBox="1"/>
          <p:nvPr/>
        </p:nvSpPr>
        <p:spPr>
          <a:xfrm>
            <a:off x="4957141" y="1288035"/>
            <a:ext cx="732762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﻿#pip install </a:t>
            </a:r>
            <a:r>
              <a:rPr lang="en-US" dirty="0" err="1"/>
              <a:t>biopython</a:t>
            </a:r>
            <a:endParaRPr lang="en-US" dirty="0"/>
          </a:p>
          <a:p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Bio.Entrez</a:t>
            </a:r>
            <a:r>
              <a:rPr lang="en-US" dirty="0"/>
              <a:t> import </a:t>
            </a:r>
            <a:r>
              <a:rPr lang="en-US" dirty="0" err="1"/>
              <a:t>efetch</a:t>
            </a:r>
            <a:endParaRPr lang="en-US" dirty="0"/>
          </a:p>
          <a:p>
            <a:r>
              <a:rPr lang="en-US" dirty="0"/>
              <a:t>from Bio import Entrez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en-US" dirty="0" err="1"/>
              <a:t>Entrez.email</a:t>
            </a:r>
            <a:r>
              <a:rPr lang="en-US" dirty="0"/>
              <a:t> = '</a:t>
            </a:r>
            <a:r>
              <a:rPr lang="en-US" dirty="0" err="1"/>
              <a:t>some@example.com</a:t>
            </a:r>
            <a:r>
              <a:rPr lang="en-US" dirty="0"/>
              <a:t>'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def </a:t>
            </a:r>
            <a:r>
              <a:rPr lang="en-US" dirty="0" err="1"/>
              <a:t>print_abstract</a:t>
            </a:r>
            <a:r>
              <a:rPr lang="en-US" dirty="0"/>
              <a:t>(</a:t>
            </a:r>
            <a:r>
              <a:rPr lang="en-US" dirty="0" err="1"/>
              <a:t>pmid</a:t>
            </a:r>
            <a:r>
              <a:rPr lang="en-US" dirty="0"/>
              <a:t>):</a:t>
            </a:r>
          </a:p>
          <a:p>
            <a:r>
              <a:rPr lang="en-US" dirty="0"/>
              <a:t>    handle = </a:t>
            </a:r>
            <a:r>
              <a:rPr lang="en-US" dirty="0" err="1"/>
              <a:t>efetch</a:t>
            </a:r>
            <a:r>
              <a:rPr lang="en-US" dirty="0"/>
              <a:t>(</a:t>
            </a:r>
            <a:r>
              <a:rPr lang="en-US" dirty="0" err="1"/>
              <a:t>db</a:t>
            </a:r>
            <a:r>
              <a:rPr lang="en-US" dirty="0"/>
              <a:t>='</a:t>
            </a:r>
            <a:r>
              <a:rPr lang="en-US" dirty="0" err="1"/>
              <a:t>pubmed</a:t>
            </a:r>
            <a:r>
              <a:rPr lang="en-US" dirty="0"/>
              <a:t>', id=</a:t>
            </a:r>
            <a:r>
              <a:rPr lang="en-US" dirty="0" err="1"/>
              <a:t>pmid</a:t>
            </a:r>
            <a:r>
              <a:rPr lang="en-US" dirty="0"/>
              <a:t>, </a:t>
            </a:r>
            <a:r>
              <a:rPr lang="en-US" dirty="0" err="1"/>
              <a:t>retmode</a:t>
            </a:r>
            <a:r>
              <a:rPr lang="en-US" dirty="0"/>
              <a:t>='text', </a:t>
            </a:r>
            <a:r>
              <a:rPr lang="en-US" dirty="0" err="1"/>
              <a:t>rettype</a:t>
            </a:r>
            <a:r>
              <a:rPr lang="en-US" dirty="0"/>
              <a:t>='abstract')</a:t>
            </a:r>
          </a:p>
          <a:p>
            <a:r>
              <a:rPr lang="en-US" dirty="0"/>
              <a:t>    print(</a:t>
            </a:r>
            <a:r>
              <a:rPr lang="en-US" dirty="0" err="1"/>
              <a:t>handle.read</a:t>
            </a:r>
            <a:r>
              <a:rPr lang="en-US" dirty="0"/>
              <a:t>())</a:t>
            </a:r>
          </a:p>
          <a:p>
            <a:endParaRPr lang="en-US" dirty="0"/>
          </a:p>
          <a:p>
            <a:r>
              <a:rPr lang="en-US" dirty="0" err="1"/>
              <a:t>print_abstract</a:t>
            </a:r>
            <a:r>
              <a:rPr lang="en-US" dirty="0"/>
              <a:t>(11037974)</a:t>
            </a:r>
          </a:p>
          <a:p>
            <a:r>
              <a:rPr lang="en-US" dirty="0">
                <a:solidFill>
                  <a:srgbClr val="0070C0"/>
                </a:solidFill>
              </a:rPr>
              <a:t>### looks like it may take some work to isolate title and abstract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816AC7-F158-8015-B691-6728D39497AE}"/>
              </a:ext>
            </a:extLst>
          </p:cNvPr>
          <p:cNvSpPr txBox="1"/>
          <p:nvPr/>
        </p:nvSpPr>
        <p:spPr>
          <a:xfrm>
            <a:off x="5835926" y="5130927"/>
            <a:ext cx="635607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﻿#pip install </a:t>
            </a:r>
            <a:r>
              <a:rPr lang="en-US" dirty="0" err="1"/>
              <a:t>pymed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pymed</a:t>
            </a:r>
            <a:r>
              <a:rPr lang="en-US" dirty="0"/>
              <a:t> import PubMed</a:t>
            </a:r>
          </a:p>
          <a:p>
            <a:endParaRPr lang="en-US" dirty="0"/>
          </a:p>
          <a:p>
            <a:r>
              <a:rPr lang="en-US">
                <a:solidFill>
                  <a:srgbClr val="0070C0"/>
                </a:solidFill>
              </a:rPr>
              <a:t>### this </a:t>
            </a:r>
            <a:r>
              <a:rPr lang="en-US" dirty="0">
                <a:solidFill>
                  <a:srgbClr val="0070C0"/>
                </a:solidFill>
              </a:rPr>
              <a:t>might be better, it seems their examples folder shows how to get the abstract and separately the title</a:t>
            </a:r>
          </a:p>
        </p:txBody>
      </p:sp>
    </p:spTree>
    <p:extLst>
      <p:ext uri="{BB962C8B-B14F-4D97-AF65-F5344CB8AC3E}">
        <p14:creationId xmlns:p14="http://schemas.microsoft.com/office/powerpoint/2010/main" val="1105355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358</Words>
  <Application>Microsoft Macintosh PowerPoint</Application>
  <PresentationFormat>Widescreen</PresentationFormat>
  <Paragraphs>57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Montserrat</vt:lpstr>
      <vt:lpstr>Office Theme</vt:lpstr>
      <vt:lpstr>CMSC451</vt:lpstr>
      <vt:lpstr>Technical components</vt:lpstr>
      <vt:lpstr>Building the training set for machine learning</vt:lpstr>
      <vt:lpstr>PubMed page</vt:lpstr>
      <vt:lpstr>Building the training set for machine learning</vt:lpstr>
      <vt:lpstr>Building the training set for machine learning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CMSC451</dc:title>
  <dc:creator>Tomasz Arodz</dc:creator>
  <cp:lastModifiedBy>Microsoft Office User</cp:lastModifiedBy>
  <cp:revision>51</cp:revision>
  <dcterms:created xsi:type="dcterms:W3CDTF">2022-09-13T16:18:47Z</dcterms:created>
  <dcterms:modified xsi:type="dcterms:W3CDTF">2022-09-29T18:20:36Z</dcterms:modified>
</cp:coreProperties>
</file>